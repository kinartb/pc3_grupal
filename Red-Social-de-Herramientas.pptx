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4630400" cy="8229600"/>
  <p:notesSz cx="8229600" cy="14630400"/>
  <p:embeddedFontLst>
    <p:embeddedFont>
      <p:font typeface="Corben" panose="020B0604020202020204" charset="0"/>
      <p:regular r:id="rId16"/>
    </p:embeddedFont>
    <p:embeddedFont>
      <p:font typeface="Nobile" panose="020B0604020202020204" charset="0"/>
      <p:regular r:id="rId17"/>
    </p:embeddedFont>
  </p:embeddedFontLst>
  <p:defaultTextStyle>
    <a:defPPr>
      <a:defRPr lang="es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9F9FF"/>
    <a:srgbClr val="D2D9F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7" d="100"/>
          <a:sy n="97" d="100"/>
        </p:scale>
        <p:origin x="330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10370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9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9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9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9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9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9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9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9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9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9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9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9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9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3045976"/>
            <a:ext cx="7327225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1B1B27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Red Social de Herramientas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93790" y="4094917"/>
            <a:ext cx="7556421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Plataforma para alquilar, intercambiar, comprar y vender herramientas de cualquier profesión. Conecta propietarios, usuarios, vendedores de insumos y operarios en un ecosistema colaborativo.</a:t>
            </a:r>
            <a:endParaRPr lang="en-US" sz="1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5930" y="610195"/>
            <a:ext cx="13078539" cy="13854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450"/>
              </a:lnSpc>
              <a:buNone/>
            </a:pPr>
            <a:r>
              <a:rPr lang="en-US" sz="4350" dirty="0">
                <a:solidFill>
                  <a:srgbClr val="1B1B27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Personas: Actores Clave - Propietario de herramientas (alquilador)</a:t>
            </a:r>
            <a:endParaRPr lang="en-US" sz="4350" dirty="0"/>
          </a:p>
        </p:txBody>
      </p:sp>
      <p:sp>
        <p:nvSpPr>
          <p:cNvPr id="3" name="Shape 1"/>
          <p:cNvSpPr/>
          <p:nvPr/>
        </p:nvSpPr>
        <p:spPr>
          <a:xfrm>
            <a:off x="775930" y="2328148"/>
            <a:ext cx="13078539" cy="5291138"/>
          </a:xfrm>
          <a:prstGeom prst="roundRect">
            <a:avLst>
              <a:gd name="adj" fmla="val 1760"/>
            </a:avLst>
          </a:prstGeom>
          <a:solidFill>
            <a:srgbClr val="D2D9F9"/>
          </a:solidFill>
          <a:ln w="7620">
            <a:solidFill>
              <a:srgbClr val="B8BFD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05245" y="2557463"/>
            <a:ext cx="12619911" cy="3546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00" b="1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Nombre:</a:t>
            </a:r>
            <a:r>
              <a:rPr lang="en-US" sz="17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Carlos Peña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1005245" y="3045143"/>
            <a:ext cx="12619911" cy="3546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00" b="1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Edad:</a:t>
            </a:r>
            <a:r>
              <a:rPr lang="en-US" sz="17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45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1005245" y="3532823"/>
            <a:ext cx="12619911" cy="3546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00" b="1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Ocupación:</a:t>
            </a:r>
            <a:r>
              <a:rPr lang="en-US" sz="17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Contratista independiente (construcción)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005245" y="4020503"/>
            <a:ext cx="12619911" cy="3546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00" b="1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Tecnología:</a:t>
            </a:r>
            <a:r>
              <a:rPr lang="en-US" sz="17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Smartphone Android, PC ocasionalmente. </a:t>
            </a:r>
            <a:r>
              <a:rPr lang="en-US" sz="1700" b="1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Nivel:</a:t>
            </a:r>
            <a:r>
              <a:rPr lang="en-US" sz="17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medio.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005245" y="4508183"/>
            <a:ext cx="12619911" cy="7093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00" b="1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Objetivos:</a:t>
            </a:r>
            <a:r>
              <a:rPr lang="en-US" sz="17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Generar ingresos pasivos alquilando herramientas que no usa todo el tiempo; mantener control y seguridad de sus activos; fijar tarifas y disponibilidad.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005245" y="5350550"/>
            <a:ext cx="12619911" cy="7093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00" b="1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Frustraciones:</a:t>
            </a:r>
            <a:r>
              <a:rPr lang="en-US" sz="17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Riesgo de daños o retrasos en devoluciones; procesos de cobro/garantía engorrosos; falta de seguro o compensación clara.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005245" y="6192917"/>
            <a:ext cx="12619911" cy="7093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00" b="1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Comportamiento:</a:t>
            </a:r>
            <a:r>
              <a:rPr lang="en-US" sz="17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Publica fotos y descripciones, fija tarifas diarias/horarias, acepta reservas y coordina entrega/recogida.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1005245" y="7035284"/>
            <a:ext cx="12619911" cy="3546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00" b="1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Quote</a:t>
            </a:r>
            <a:r>
              <a:rPr lang="en-US" sz="17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: "Mi herramienta está trabajando cuando yo no estoy — quiero control y que me paguen justo."</a:t>
            </a:r>
            <a:endParaRPr lang="en-US" sz="1700" dirty="0"/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CACBF74B-8A9A-8D5F-DC87-71C903FC7901}"/>
              </a:ext>
            </a:extLst>
          </p:cNvPr>
          <p:cNvSpPr/>
          <p:nvPr/>
        </p:nvSpPr>
        <p:spPr>
          <a:xfrm>
            <a:off x="12840929" y="7752279"/>
            <a:ext cx="1720645" cy="408495"/>
          </a:xfrm>
          <a:prstGeom prst="rect">
            <a:avLst/>
          </a:prstGeom>
          <a:solidFill>
            <a:srgbClr val="F9F9FF"/>
          </a:solidFill>
          <a:ln>
            <a:solidFill>
              <a:srgbClr val="F9F9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710684"/>
            <a:ext cx="130428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1B1B27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Personas: Actores Clave - Usuario que necesita herramienta (arrendatario)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93790" y="2468404"/>
            <a:ext cx="13042821" cy="5050512"/>
          </a:xfrm>
          <a:prstGeom prst="roundRect">
            <a:avLst>
              <a:gd name="adj" fmla="val 1886"/>
            </a:avLst>
          </a:prstGeom>
          <a:solidFill>
            <a:srgbClr val="D2D9F9"/>
          </a:solidFill>
          <a:ln w="7620">
            <a:solidFill>
              <a:srgbClr val="B8BFD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28224" y="2702838"/>
            <a:ext cx="1257395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Nombre:</a:t>
            </a:r>
            <a:r>
              <a:rPr lang="en-US" sz="17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Ana Torres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1028224" y="3201829"/>
            <a:ext cx="1257395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Edad:</a:t>
            </a:r>
            <a:r>
              <a:rPr lang="en-US" sz="17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29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1028224" y="3700820"/>
            <a:ext cx="1257395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Ocupación:</a:t>
            </a:r>
            <a:r>
              <a:rPr lang="en-US" sz="17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Dueña de pequeña remodelación en casa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1028224" y="4199811"/>
            <a:ext cx="1257395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Tecnología:</a:t>
            </a:r>
            <a:r>
              <a:rPr lang="en-US" sz="17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Smartphone iOS, apps de pago. </a:t>
            </a:r>
            <a:r>
              <a:rPr lang="en-US" sz="1750" b="1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Nivel:</a:t>
            </a:r>
            <a:r>
              <a:rPr lang="en-US" sz="17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alto.</a:t>
            </a:r>
            <a:endParaRPr lang="en-US" sz="1750" dirty="0"/>
          </a:p>
        </p:txBody>
      </p:sp>
      <p:sp>
        <p:nvSpPr>
          <p:cNvPr id="8" name="Text 6"/>
          <p:cNvSpPr/>
          <p:nvPr/>
        </p:nvSpPr>
        <p:spPr>
          <a:xfrm>
            <a:off x="1028224" y="4698802"/>
            <a:ext cx="12573953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Objetivos:</a:t>
            </a:r>
            <a:r>
              <a:rPr lang="en-US" sz="17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Encontrar y alquilar la herramienta adecuada por el menor tiempo posible, con opción de entrega o recogida cerca.</a:t>
            </a:r>
            <a:endParaRPr lang="en-US" sz="1750" dirty="0"/>
          </a:p>
        </p:txBody>
      </p:sp>
      <p:sp>
        <p:nvSpPr>
          <p:cNvPr id="9" name="Text 7"/>
          <p:cNvSpPr/>
          <p:nvPr/>
        </p:nvSpPr>
        <p:spPr>
          <a:xfrm>
            <a:off x="1028224" y="5560695"/>
            <a:ext cx="12573953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Frustraciones</a:t>
            </a:r>
            <a:r>
              <a:rPr lang="en-US" sz="17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: Disponibilidad limitada, incertidumbre sobre condición real de la herramienta, procesos de cancelación complicados.</a:t>
            </a:r>
            <a:endParaRPr lang="en-US" sz="1750" dirty="0"/>
          </a:p>
        </p:txBody>
      </p:sp>
      <p:sp>
        <p:nvSpPr>
          <p:cNvPr id="10" name="Text 8"/>
          <p:cNvSpPr/>
          <p:nvPr/>
        </p:nvSpPr>
        <p:spPr>
          <a:xfrm>
            <a:off x="1028224" y="6422588"/>
            <a:ext cx="1257395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Comportamiento</a:t>
            </a:r>
            <a:r>
              <a:rPr lang="en-US" sz="17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: Busca por tipo de herramienta, compara precios, revisa valoraciones y horarios de entrega.</a:t>
            </a:r>
            <a:endParaRPr lang="en-US" sz="1750" dirty="0"/>
          </a:p>
        </p:txBody>
      </p:sp>
      <p:sp>
        <p:nvSpPr>
          <p:cNvPr id="11" name="Text 9"/>
          <p:cNvSpPr/>
          <p:nvPr/>
        </p:nvSpPr>
        <p:spPr>
          <a:xfrm>
            <a:off x="1028224" y="6921579"/>
            <a:ext cx="1257395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Quote</a:t>
            </a:r>
            <a:r>
              <a:rPr lang="en-US" sz="17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: "No quiero comprar algo que voy a usar una vez — solo necesito que funcione y me lo entreguen a tiempo."</a:t>
            </a:r>
            <a:endParaRPr lang="en-US" sz="1750" dirty="0"/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4D38BFA1-5BC7-FEC9-6F5F-D485F06D2AAB}"/>
              </a:ext>
            </a:extLst>
          </p:cNvPr>
          <p:cNvSpPr/>
          <p:nvPr/>
        </p:nvSpPr>
        <p:spPr>
          <a:xfrm>
            <a:off x="12840929" y="7752279"/>
            <a:ext cx="1720645" cy="408495"/>
          </a:xfrm>
          <a:prstGeom prst="rect">
            <a:avLst/>
          </a:prstGeom>
          <a:solidFill>
            <a:srgbClr val="F9F9FF"/>
          </a:solidFill>
          <a:ln>
            <a:solidFill>
              <a:srgbClr val="F9F9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246465"/>
            <a:ext cx="12553474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1B1B27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Personas: Actores Clave  - Vendedor de insumos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93790" y="2295406"/>
            <a:ext cx="13042821" cy="4687610"/>
          </a:xfrm>
          <a:prstGeom prst="roundRect">
            <a:avLst>
              <a:gd name="adj" fmla="val 2032"/>
            </a:avLst>
          </a:prstGeom>
          <a:solidFill>
            <a:srgbClr val="D2D9F9"/>
          </a:solidFill>
          <a:ln w="7620">
            <a:solidFill>
              <a:srgbClr val="B8BFD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28224" y="2529840"/>
            <a:ext cx="1257395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Nombre</a:t>
            </a:r>
            <a:r>
              <a:rPr lang="en-US" sz="17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: José Ramírez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1028224" y="3028831"/>
            <a:ext cx="1257395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Edad</a:t>
            </a:r>
            <a:r>
              <a:rPr lang="en-US" sz="17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: 38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1028224" y="3527822"/>
            <a:ext cx="1257395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Ocupación</a:t>
            </a:r>
            <a:r>
              <a:rPr lang="en-US" sz="17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: Dueño de tienda de insumos (discos, lijas, brocas)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1028224" y="4026813"/>
            <a:ext cx="1257395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Tecnología</a:t>
            </a:r>
            <a:r>
              <a:rPr lang="en-US" sz="17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: PC para inventario, smartphone. </a:t>
            </a:r>
            <a:r>
              <a:rPr lang="en-US" sz="1750" b="1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Nivel</a:t>
            </a:r>
            <a:r>
              <a:rPr lang="en-US" sz="17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: medio.</a:t>
            </a:r>
            <a:endParaRPr lang="en-US" sz="1750" dirty="0"/>
          </a:p>
        </p:txBody>
      </p:sp>
      <p:sp>
        <p:nvSpPr>
          <p:cNvPr id="8" name="Text 6"/>
          <p:cNvSpPr/>
          <p:nvPr/>
        </p:nvSpPr>
        <p:spPr>
          <a:xfrm>
            <a:off x="1028224" y="4525804"/>
            <a:ext cx="12573953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Objetivos</a:t>
            </a:r>
            <a:r>
              <a:rPr lang="en-US" sz="17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: Llegar a clientes que rentan herramientas y vender consumibles relacionados; ofrecer combos o paquetes.</a:t>
            </a:r>
            <a:endParaRPr lang="en-US" sz="1750" dirty="0"/>
          </a:p>
        </p:txBody>
      </p:sp>
      <p:sp>
        <p:nvSpPr>
          <p:cNvPr id="9" name="Text 7"/>
          <p:cNvSpPr/>
          <p:nvPr/>
        </p:nvSpPr>
        <p:spPr>
          <a:xfrm>
            <a:off x="1028224" y="5387697"/>
            <a:ext cx="1257395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Frustraciones</a:t>
            </a:r>
            <a:r>
              <a:rPr lang="en-US" sz="17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: Integración con listados de herramientas, comisiones opacas, logística de entrega de insumos.</a:t>
            </a:r>
            <a:endParaRPr lang="en-US" sz="1750" dirty="0"/>
          </a:p>
        </p:txBody>
      </p:sp>
      <p:sp>
        <p:nvSpPr>
          <p:cNvPr id="10" name="Text 8"/>
          <p:cNvSpPr/>
          <p:nvPr/>
        </p:nvSpPr>
        <p:spPr>
          <a:xfrm>
            <a:off x="1028224" y="5886688"/>
            <a:ext cx="1257395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Comportamiento</a:t>
            </a:r>
            <a:r>
              <a:rPr lang="en-US" sz="17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: Se asocia a listados, ofrece descuentos por compra con alquiler.</a:t>
            </a:r>
            <a:endParaRPr lang="en-US" sz="1750" dirty="0"/>
          </a:p>
        </p:txBody>
      </p:sp>
      <p:sp>
        <p:nvSpPr>
          <p:cNvPr id="11" name="Text 9"/>
          <p:cNvSpPr/>
          <p:nvPr/>
        </p:nvSpPr>
        <p:spPr>
          <a:xfrm>
            <a:off x="1028224" y="6385679"/>
            <a:ext cx="1257395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Quote</a:t>
            </a:r>
            <a:r>
              <a:rPr lang="en-US" sz="17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: "Si alguien alquila una amoladora, puedo venderle los discos y sacarle más venta."</a:t>
            </a:r>
            <a:endParaRPr lang="en-US" sz="1750" dirty="0"/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BCF4C5F6-0EFD-F220-7631-6FA6EFE258C7}"/>
              </a:ext>
            </a:extLst>
          </p:cNvPr>
          <p:cNvSpPr/>
          <p:nvPr/>
        </p:nvSpPr>
        <p:spPr>
          <a:xfrm>
            <a:off x="12840929" y="7752279"/>
            <a:ext cx="1720645" cy="408495"/>
          </a:xfrm>
          <a:prstGeom prst="rect">
            <a:avLst/>
          </a:prstGeom>
          <a:solidFill>
            <a:srgbClr val="F9F9FF"/>
          </a:solidFill>
          <a:ln>
            <a:solidFill>
              <a:srgbClr val="F9F9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892135"/>
            <a:ext cx="130428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1B1B27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Personas: Actores Clave - Operario con herramienta propia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93790" y="2649855"/>
            <a:ext cx="13042821" cy="4687610"/>
          </a:xfrm>
          <a:prstGeom prst="roundRect">
            <a:avLst>
              <a:gd name="adj" fmla="val 2032"/>
            </a:avLst>
          </a:prstGeom>
          <a:solidFill>
            <a:srgbClr val="D2D9F9"/>
          </a:solidFill>
          <a:ln w="7620">
            <a:solidFill>
              <a:srgbClr val="B8BFD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28224" y="2884289"/>
            <a:ext cx="1257395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Nombre</a:t>
            </a:r>
            <a:r>
              <a:rPr lang="en-US" sz="17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: Miguel Gutiérrez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1028224" y="3383280"/>
            <a:ext cx="1257395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Edad</a:t>
            </a:r>
            <a:r>
              <a:rPr lang="en-US" sz="17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: 34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1028224" y="3882271"/>
            <a:ext cx="1257395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Ocupación</a:t>
            </a:r>
            <a:r>
              <a:rPr lang="en-US" sz="17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: Albañil / Perforista con experiencia en manejo de herramientas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1028224" y="4381262"/>
            <a:ext cx="1257395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Tecnología</a:t>
            </a:r>
            <a:r>
              <a:rPr lang="en-US" sz="17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: Smartphone básico. </a:t>
            </a:r>
            <a:r>
              <a:rPr lang="en-US" sz="1750" b="1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Nivel</a:t>
            </a:r>
            <a:r>
              <a:rPr lang="en-US" sz="17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: medio-bajo.</a:t>
            </a:r>
            <a:endParaRPr lang="en-US" sz="1750" dirty="0"/>
          </a:p>
        </p:txBody>
      </p:sp>
      <p:sp>
        <p:nvSpPr>
          <p:cNvPr id="8" name="Text 6"/>
          <p:cNvSpPr/>
          <p:nvPr/>
        </p:nvSpPr>
        <p:spPr>
          <a:xfrm>
            <a:off x="1028224" y="4880253"/>
            <a:ext cx="12573953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Objetivos</a:t>
            </a:r>
            <a:r>
              <a:rPr lang="en-US" sz="17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: Ofrecer su servicio junto con la herramienta (ej. perforaciones con rotomartillo), cobrar por hora y recibir calificaciones.</a:t>
            </a:r>
            <a:endParaRPr lang="en-US" sz="1750" dirty="0"/>
          </a:p>
        </p:txBody>
      </p:sp>
      <p:sp>
        <p:nvSpPr>
          <p:cNvPr id="9" name="Text 7"/>
          <p:cNvSpPr/>
          <p:nvPr/>
        </p:nvSpPr>
        <p:spPr>
          <a:xfrm>
            <a:off x="1028224" y="5742146"/>
            <a:ext cx="1257395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Frustraciones</a:t>
            </a:r>
            <a:r>
              <a:rPr lang="en-US" sz="17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: Pagos retrasados, coordinación con cliente, tasas por cancelación.</a:t>
            </a:r>
            <a:endParaRPr lang="en-US" sz="1750" dirty="0"/>
          </a:p>
        </p:txBody>
      </p:sp>
      <p:sp>
        <p:nvSpPr>
          <p:cNvPr id="10" name="Text 8"/>
          <p:cNvSpPr/>
          <p:nvPr/>
        </p:nvSpPr>
        <p:spPr>
          <a:xfrm>
            <a:off x="1028224" y="6241137"/>
            <a:ext cx="1257395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Comportamiento</a:t>
            </a:r>
            <a:r>
              <a:rPr lang="en-US" sz="17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: Publica su perfil, tarifas por hora, reseñas y ejemplos de trabajo.</a:t>
            </a:r>
            <a:endParaRPr lang="en-US" sz="1750" dirty="0"/>
          </a:p>
        </p:txBody>
      </p:sp>
      <p:sp>
        <p:nvSpPr>
          <p:cNvPr id="11" name="Text 9"/>
          <p:cNvSpPr/>
          <p:nvPr/>
        </p:nvSpPr>
        <p:spPr>
          <a:xfrm>
            <a:off x="1028224" y="6740128"/>
            <a:ext cx="1257395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Quote</a:t>
            </a:r>
            <a:r>
              <a:rPr lang="en-US" sz="17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: "Puedo operar la herramienta si me contratan, les ahorra esfuerzo y me da trabajo a mí."</a:t>
            </a:r>
            <a:endParaRPr lang="en-US" sz="1750" dirty="0"/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5239E1CA-F8E6-DAB5-61C9-9DA0901699DA}"/>
              </a:ext>
            </a:extLst>
          </p:cNvPr>
          <p:cNvSpPr/>
          <p:nvPr/>
        </p:nvSpPr>
        <p:spPr>
          <a:xfrm>
            <a:off x="12840929" y="7752279"/>
            <a:ext cx="1720645" cy="408495"/>
          </a:xfrm>
          <a:prstGeom prst="rect">
            <a:avLst/>
          </a:prstGeom>
          <a:solidFill>
            <a:srgbClr val="F9F9FF"/>
          </a:solidFill>
          <a:ln>
            <a:solidFill>
              <a:srgbClr val="F9F9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073587"/>
            <a:ext cx="130428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1B1B27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Personas: Actores Clave - Administrador / Moderador (Admin)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93790" y="2831306"/>
            <a:ext cx="13042821" cy="4324707"/>
          </a:xfrm>
          <a:prstGeom prst="roundRect">
            <a:avLst>
              <a:gd name="adj" fmla="val 2203"/>
            </a:avLst>
          </a:prstGeom>
          <a:solidFill>
            <a:srgbClr val="D2D9F9"/>
          </a:solidFill>
          <a:ln w="7620">
            <a:solidFill>
              <a:srgbClr val="B8BFD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28224" y="3065740"/>
            <a:ext cx="1257395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Nombre</a:t>
            </a:r>
            <a:r>
              <a:rPr lang="en-US" sz="17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: Equipo de la plataforma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1028224" y="3564731"/>
            <a:ext cx="1257395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Edad</a:t>
            </a:r>
            <a:r>
              <a:rPr lang="en-US" sz="17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: N/A (rol)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1028224" y="4063722"/>
            <a:ext cx="1257395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Ocupación</a:t>
            </a:r>
            <a:r>
              <a:rPr lang="en-US" sz="17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: Gestión de la plataforma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1028224" y="4562713"/>
            <a:ext cx="1257395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Tecnología</a:t>
            </a:r>
            <a:r>
              <a:rPr lang="en-US" sz="17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: Panel web, sistema de tickets.</a:t>
            </a:r>
            <a:endParaRPr lang="en-US" sz="1750" dirty="0"/>
          </a:p>
        </p:txBody>
      </p:sp>
      <p:sp>
        <p:nvSpPr>
          <p:cNvPr id="8" name="Text 6"/>
          <p:cNvSpPr/>
          <p:nvPr/>
        </p:nvSpPr>
        <p:spPr>
          <a:xfrm>
            <a:off x="1028224" y="5061704"/>
            <a:ext cx="1257395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Objetivos</a:t>
            </a:r>
            <a:r>
              <a:rPr lang="en-US" sz="17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: Mantener la seguridad, resolver disputas, gestionar pagos y comisiones, moderar contenido.</a:t>
            </a:r>
            <a:endParaRPr lang="en-US" sz="1750" dirty="0"/>
          </a:p>
        </p:txBody>
      </p:sp>
      <p:sp>
        <p:nvSpPr>
          <p:cNvPr id="9" name="Text 7"/>
          <p:cNvSpPr/>
          <p:nvPr/>
        </p:nvSpPr>
        <p:spPr>
          <a:xfrm>
            <a:off x="1028224" y="5560695"/>
            <a:ext cx="1257395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Frustraciones</a:t>
            </a:r>
            <a:r>
              <a:rPr lang="en-US" sz="17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: Fraudes, incumplimientos, cargas legales por daños.</a:t>
            </a:r>
            <a:endParaRPr lang="en-US" sz="1750" dirty="0"/>
          </a:p>
        </p:txBody>
      </p:sp>
      <p:sp>
        <p:nvSpPr>
          <p:cNvPr id="10" name="Text 8"/>
          <p:cNvSpPr/>
          <p:nvPr/>
        </p:nvSpPr>
        <p:spPr>
          <a:xfrm>
            <a:off x="1028224" y="6059686"/>
            <a:ext cx="1257395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Comportamiento</a:t>
            </a:r>
            <a:r>
              <a:rPr lang="en-US" sz="17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: Revisa reportes, aprueba o suspende usuarios, maneja conciliaciones entre partes.</a:t>
            </a:r>
            <a:endParaRPr lang="en-US" sz="1750" dirty="0"/>
          </a:p>
        </p:txBody>
      </p:sp>
      <p:sp>
        <p:nvSpPr>
          <p:cNvPr id="11" name="Text 9"/>
          <p:cNvSpPr/>
          <p:nvPr/>
        </p:nvSpPr>
        <p:spPr>
          <a:xfrm>
            <a:off x="1028224" y="6558677"/>
            <a:ext cx="1257395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Quote</a:t>
            </a:r>
            <a:r>
              <a:rPr lang="en-US" sz="17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: "Necesitamos procesos claros que protejan a todos y eviten abusos."</a:t>
            </a:r>
            <a:endParaRPr lang="en-US" sz="1750" dirty="0"/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4D107672-1D69-FA89-7C8C-8FE23D3DF05C}"/>
              </a:ext>
            </a:extLst>
          </p:cNvPr>
          <p:cNvSpPr/>
          <p:nvPr/>
        </p:nvSpPr>
        <p:spPr>
          <a:xfrm>
            <a:off x="12840929" y="7752279"/>
            <a:ext cx="1720645" cy="408495"/>
          </a:xfrm>
          <a:prstGeom prst="rect">
            <a:avLst/>
          </a:prstGeom>
          <a:solidFill>
            <a:srgbClr val="F9F9FF"/>
          </a:solidFill>
          <a:ln>
            <a:solidFill>
              <a:srgbClr val="F9F9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323142"/>
            <a:ext cx="8072795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1B1B27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Journey del Propietario: Carlos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485549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04155"/>
                </a:solidFill>
                <a:latin typeface="Corben Light" pitchFamily="34" charset="0"/>
                <a:ea typeface="Corben Light" pitchFamily="34" charset="-122"/>
                <a:cs typeface="Corben Light" pitchFamily="34" charset="-120"/>
              </a:rPr>
              <a:t>01</a:t>
            </a:r>
            <a:endParaRPr lang="en-US" sz="1750" dirty="0"/>
          </a:p>
        </p:txBody>
      </p:sp>
      <p:sp>
        <p:nvSpPr>
          <p:cNvPr id="4" name="Shape 2"/>
          <p:cNvSpPr/>
          <p:nvPr/>
        </p:nvSpPr>
        <p:spPr>
          <a:xfrm>
            <a:off x="793790" y="2840593"/>
            <a:ext cx="4196358" cy="30480"/>
          </a:xfrm>
          <a:prstGeom prst="rect">
            <a:avLst/>
          </a:prstGeom>
          <a:solidFill>
            <a:srgbClr val="4967E9"/>
          </a:solidFill>
          <a:ln/>
        </p:spPr>
      </p:sp>
      <p:sp>
        <p:nvSpPr>
          <p:cNvPr id="5" name="Text 3"/>
          <p:cNvSpPr/>
          <p:nvPr/>
        </p:nvSpPr>
        <p:spPr>
          <a:xfrm>
            <a:off x="793790" y="301490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Registro e identidad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93790" y="3505319"/>
            <a:ext cx="4196358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Descarga app, crea cuenta, verifica identidad con documentos.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5216962" y="2485549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04155"/>
                </a:solidFill>
                <a:latin typeface="Corben Light" pitchFamily="34" charset="0"/>
                <a:ea typeface="Corben Light" pitchFamily="34" charset="-122"/>
                <a:cs typeface="Corben Light" pitchFamily="34" charset="-120"/>
              </a:rPr>
              <a:t>02</a:t>
            </a:r>
            <a:endParaRPr lang="en-US" sz="1750" dirty="0"/>
          </a:p>
        </p:txBody>
      </p:sp>
      <p:sp>
        <p:nvSpPr>
          <p:cNvPr id="8" name="Shape 6"/>
          <p:cNvSpPr/>
          <p:nvPr/>
        </p:nvSpPr>
        <p:spPr>
          <a:xfrm>
            <a:off x="5216962" y="2840593"/>
            <a:ext cx="4196358" cy="30480"/>
          </a:xfrm>
          <a:prstGeom prst="rect">
            <a:avLst/>
          </a:prstGeom>
          <a:solidFill>
            <a:srgbClr val="4967E9"/>
          </a:solidFill>
          <a:ln/>
        </p:spPr>
      </p:sp>
      <p:sp>
        <p:nvSpPr>
          <p:cNvPr id="9" name="Text 7"/>
          <p:cNvSpPr/>
          <p:nvPr/>
        </p:nvSpPr>
        <p:spPr>
          <a:xfrm>
            <a:off x="5216962" y="3014901"/>
            <a:ext cx="2844760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Publicar herramienta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5216962" y="3505319"/>
            <a:ext cx="4196358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Sube fotos, descripción, tarifas, depósito y opciones (con/sin operario).</a:t>
            </a:r>
            <a:endParaRPr lang="en-US" sz="1750" dirty="0"/>
          </a:p>
        </p:txBody>
      </p:sp>
      <p:sp>
        <p:nvSpPr>
          <p:cNvPr id="11" name="Text 9"/>
          <p:cNvSpPr/>
          <p:nvPr/>
        </p:nvSpPr>
        <p:spPr>
          <a:xfrm>
            <a:off x="9640133" y="2485549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04155"/>
                </a:solidFill>
                <a:latin typeface="Corben Light" pitchFamily="34" charset="0"/>
                <a:ea typeface="Corben Light" pitchFamily="34" charset="-122"/>
                <a:cs typeface="Corben Light" pitchFamily="34" charset="-120"/>
              </a:rPr>
              <a:t>03</a:t>
            </a:r>
            <a:endParaRPr lang="en-US" sz="1750" dirty="0"/>
          </a:p>
        </p:txBody>
      </p:sp>
      <p:sp>
        <p:nvSpPr>
          <p:cNvPr id="12" name="Shape 10"/>
          <p:cNvSpPr/>
          <p:nvPr/>
        </p:nvSpPr>
        <p:spPr>
          <a:xfrm>
            <a:off x="9640133" y="2840593"/>
            <a:ext cx="4196358" cy="30480"/>
          </a:xfrm>
          <a:prstGeom prst="rect">
            <a:avLst/>
          </a:prstGeom>
          <a:solidFill>
            <a:srgbClr val="4967E9"/>
          </a:solidFill>
          <a:ln/>
        </p:spPr>
      </p:sp>
      <p:sp>
        <p:nvSpPr>
          <p:cNvPr id="13" name="Text 11"/>
          <p:cNvSpPr/>
          <p:nvPr/>
        </p:nvSpPr>
        <p:spPr>
          <a:xfrm>
            <a:off x="9640133" y="301490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Gestionar reservas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9640133" y="3505319"/>
            <a:ext cx="4196358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Acepta/rechaza solicitudes, coordina entrega y recogida.</a:t>
            </a:r>
            <a:endParaRPr lang="en-US" sz="1750" dirty="0"/>
          </a:p>
        </p:txBody>
      </p:sp>
      <p:sp>
        <p:nvSpPr>
          <p:cNvPr id="15" name="Text 13"/>
          <p:cNvSpPr/>
          <p:nvPr/>
        </p:nvSpPr>
        <p:spPr>
          <a:xfrm>
            <a:off x="793790" y="4990862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04155"/>
                </a:solidFill>
                <a:latin typeface="Corben Light" pitchFamily="34" charset="0"/>
                <a:ea typeface="Corben Light" pitchFamily="34" charset="-122"/>
                <a:cs typeface="Corben Light" pitchFamily="34" charset="-120"/>
              </a:rPr>
              <a:t>04</a:t>
            </a:r>
            <a:endParaRPr lang="en-US" sz="1750" dirty="0"/>
          </a:p>
        </p:txBody>
      </p:sp>
      <p:sp>
        <p:nvSpPr>
          <p:cNvPr id="16" name="Shape 14"/>
          <p:cNvSpPr/>
          <p:nvPr/>
        </p:nvSpPr>
        <p:spPr>
          <a:xfrm>
            <a:off x="793790" y="5345906"/>
            <a:ext cx="6407944" cy="30480"/>
          </a:xfrm>
          <a:prstGeom prst="rect">
            <a:avLst/>
          </a:prstGeom>
          <a:solidFill>
            <a:srgbClr val="4967E9"/>
          </a:solidFill>
          <a:ln/>
        </p:spPr>
      </p:sp>
      <p:sp>
        <p:nvSpPr>
          <p:cNvPr id="17" name="Text 15"/>
          <p:cNvSpPr/>
          <p:nvPr/>
        </p:nvSpPr>
        <p:spPr>
          <a:xfrm>
            <a:off x="793790" y="5520214"/>
            <a:ext cx="3223260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Inspeccionar devolución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793790" y="6010632"/>
            <a:ext cx="6407944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Marca herramienta como devuelta, revisa estado, aplica cobros por mora o daños.</a:t>
            </a:r>
            <a:endParaRPr lang="en-US" sz="1750" dirty="0"/>
          </a:p>
        </p:txBody>
      </p:sp>
      <p:sp>
        <p:nvSpPr>
          <p:cNvPr id="19" name="Text 17"/>
          <p:cNvSpPr/>
          <p:nvPr/>
        </p:nvSpPr>
        <p:spPr>
          <a:xfrm>
            <a:off x="7428548" y="4990862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04155"/>
                </a:solidFill>
                <a:latin typeface="Corben Light" pitchFamily="34" charset="0"/>
                <a:ea typeface="Corben Light" pitchFamily="34" charset="-122"/>
                <a:cs typeface="Corben Light" pitchFamily="34" charset="-120"/>
              </a:rPr>
              <a:t>05</a:t>
            </a:r>
            <a:endParaRPr lang="en-US" sz="1750" dirty="0"/>
          </a:p>
        </p:txBody>
      </p:sp>
      <p:sp>
        <p:nvSpPr>
          <p:cNvPr id="20" name="Shape 18"/>
          <p:cNvSpPr/>
          <p:nvPr/>
        </p:nvSpPr>
        <p:spPr>
          <a:xfrm>
            <a:off x="7428548" y="5345906"/>
            <a:ext cx="6407944" cy="30480"/>
          </a:xfrm>
          <a:prstGeom prst="rect">
            <a:avLst/>
          </a:prstGeom>
          <a:solidFill>
            <a:srgbClr val="4967E9"/>
          </a:solidFill>
          <a:ln/>
        </p:spPr>
      </p:sp>
      <p:sp>
        <p:nvSpPr>
          <p:cNvPr id="21" name="Text 19"/>
          <p:cNvSpPr/>
          <p:nvPr/>
        </p:nvSpPr>
        <p:spPr>
          <a:xfrm>
            <a:off x="7428548" y="5520214"/>
            <a:ext cx="3455789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Recibir pago y calificación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7428548" y="6010632"/>
            <a:ext cx="6407944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Califica al operario; recibe pago.</a:t>
            </a:r>
            <a:endParaRPr lang="en-US" sz="1750" dirty="0"/>
          </a:p>
        </p:txBody>
      </p:sp>
      <p:sp>
        <p:nvSpPr>
          <p:cNvPr id="23" name="Rectángulo 22">
            <a:extLst>
              <a:ext uri="{FF2B5EF4-FFF2-40B4-BE49-F238E27FC236}">
                <a16:creationId xmlns:a16="http://schemas.microsoft.com/office/drawing/2014/main" id="{EA820F52-5057-8E69-5621-B1AAD054BEE3}"/>
              </a:ext>
            </a:extLst>
          </p:cNvPr>
          <p:cNvSpPr/>
          <p:nvPr/>
        </p:nvSpPr>
        <p:spPr>
          <a:xfrm>
            <a:off x="12840929" y="7752279"/>
            <a:ext cx="1720645" cy="408495"/>
          </a:xfrm>
          <a:prstGeom prst="rect">
            <a:avLst/>
          </a:prstGeom>
          <a:solidFill>
            <a:srgbClr val="F9F9FF"/>
          </a:solidFill>
          <a:ln>
            <a:solidFill>
              <a:srgbClr val="F9F9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686044"/>
            <a:ext cx="7882057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1B1B27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Journey del Arrendatario: Ana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848451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04155"/>
                </a:solidFill>
                <a:latin typeface="Corben Light" pitchFamily="34" charset="0"/>
                <a:ea typeface="Corben Light" pitchFamily="34" charset="-122"/>
                <a:cs typeface="Corben Light" pitchFamily="34" charset="-120"/>
              </a:rPr>
              <a:t>01</a:t>
            </a:r>
            <a:endParaRPr lang="en-US" sz="1750" dirty="0"/>
          </a:p>
        </p:txBody>
      </p:sp>
      <p:sp>
        <p:nvSpPr>
          <p:cNvPr id="4" name="Shape 2"/>
          <p:cNvSpPr/>
          <p:nvPr/>
        </p:nvSpPr>
        <p:spPr>
          <a:xfrm>
            <a:off x="793790" y="3203496"/>
            <a:ext cx="4196358" cy="30480"/>
          </a:xfrm>
          <a:prstGeom prst="rect">
            <a:avLst/>
          </a:prstGeom>
          <a:solidFill>
            <a:srgbClr val="4967E9"/>
          </a:solidFill>
          <a:ln/>
        </p:spPr>
      </p:sp>
      <p:sp>
        <p:nvSpPr>
          <p:cNvPr id="5" name="Text 3"/>
          <p:cNvSpPr/>
          <p:nvPr/>
        </p:nvSpPr>
        <p:spPr>
          <a:xfrm>
            <a:off x="793790" y="337780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Buscar herramienta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93790" y="3868222"/>
            <a:ext cx="4196358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Filtra por tipo, precio, proximidad y valoraciones.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5216962" y="2848451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04155"/>
                </a:solidFill>
                <a:latin typeface="Corben Light" pitchFamily="34" charset="0"/>
                <a:ea typeface="Corben Light" pitchFamily="34" charset="-122"/>
                <a:cs typeface="Corben Light" pitchFamily="34" charset="-120"/>
              </a:rPr>
              <a:t>02</a:t>
            </a:r>
            <a:endParaRPr lang="en-US" sz="1750" dirty="0"/>
          </a:p>
        </p:txBody>
      </p:sp>
      <p:sp>
        <p:nvSpPr>
          <p:cNvPr id="8" name="Shape 6"/>
          <p:cNvSpPr/>
          <p:nvPr/>
        </p:nvSpPr>
        <p:spPr>
          <a:xfrm>
            <a:off x="5216962" y="3203496"/>
            <a:ext cx="4196358" cy="30480"/>
          </a:xfrm>
          <a:prstGeom prst="rect">
            <a:avLst/>
          </a:prstGeom>
          <a:solidFill>
            <a:srgbClr val="4967E9"/>
          </a:solidFill>
          <a:ln/>
        </p:spPr>
      </p:sp>
      <p:sp>
        <p:nvSpPr>
          <p:cNvPr id="9" name="Text 7"/>
          <p:cNvSpPr/>
          <p:nvPr/>
        </p:nvSpPr>
        <p:spPr>
          <a:xfrm>
            <a:off x="5216962" y="337780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Reservar y pagar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5216962" y="3868222"/>
            <a:ext cx="4196358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Solicita alquiler, paga anticipo, acuerda entrega/recogida.</a:t>
            </a:r>
            <a:endParaRPr lang="en-US" sz="1750" dirty="0"/>
          </a:p>
        </p:txBody>
      </p:sp>
      <p:sp>
        <p:nvSpPr>
          <p:cNvPr id="11" name="Text 9"/>
          <p:cNvSpPr/>
          <p:nvPr/>
        </p:nvSpPr>
        <p:spPr>
          <a:xfrm>
            <a:off x="9640133" y="2848451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04155"/>
                </a:solidFill>
                <a:latin typeface="Corben Light" pitchFamily="34" charset="0"/>
                <a:ea typeface="Corben Light" pitchFamily="34" charset="-122"/>
                <a:cs typeface="Corben Light" pitchFamily="34" charset="-120"/>
              </a:rPr>
              <a:t>03</a:t>
            </a:r>
            <a:endParaRPr lang="en-US" sz="1750" dirty="0"/>
          </a:p>
        </p:txBody>
      </p:sp>
      <p:sp>
        <p:nvSpPr>
          <p:cNvPr id="12" name="Shape 10"/>
          <p:cNvSpPr/>
          <p:nvPr/>
        </p:nvSpPr>
        <p:spPr>
          <a:xfrm>
            <a:off x="9640133" y="3203496"/>
            <a:ext cx="4196358" cy="30480"/>
          </a:xfrm>
          <a:prstGeom prst="rect">
            <a:avLst/>
          </a:prstGeom>
          <a:solidFill>
            <a:srgbClr val="4967E9"/>
          </a:solidFill>
          <a:ln/>
        </p:spPr>
      </p:sp>
      <p:sp>
        <p:nvSpPr>
          <p:cNvPr id="13" name="Text 11"/>
          <p:cNvSpPr/>
          <p:nvPr/>
        </p:nvSpPr>
        <p:spPr>
          <a:xfrm>
            <a:off x="9640133" y="337780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Usar herramienta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9640133" y="3868222"/>
            <a:ext cx="4196358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Recibe producto, accede a guía y soporte.</a:t>
            </a:r>
            <a:endParaRPr lang="en-US" sz="1750" dirty="0"/>
          </a:p>
        </p:txBody>
      </p:sp>
      <p:sp>
        <p:nvSpPr>
          <p:cNvPr id="15" name="Text 13"/>
          <p:cNvSpPr/>
          <p:nvPr/>
        </p:nvSpPr>
        <p:spPr>
          <a:xfrm>
            <a:off x="793790" y="4990862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04155"/>
                </a:solidFill>
                <a:latin typeface="Corben Light" pitchFamily="34" charset="0"/>
                <a:ea typeface="Corben Light" pitchFamily="34" charset="-122"/>
                <a:cs typeface="Corben Light" pitchFamily="34" charset="-120"/>
              </a:rPr>
              <a:t>04</a:t>
            </a:r>
            <a:endParaRPr lang="en-US" sz="1750" dirty="0"/>
          </a:p>
        </p:txBody>
      </p:sp>
      <p:sp>
        <p:nvSpPr>
          <p:cNvPr id="16" name="Shape 14"/>
          <p:cNvSpPr/>
          <p:nvPr/>
        </p:nvSpPr>
        <p:spPr>
          <a:xfrm>
            <a:off x="793790" y="5345906"/>
            <a:ext cx="6407944" cy="30480"/>
          </a:xfrm>
          <a:prstGeom prst="rect">
            <a:avLst/>
          </a:prstGeom>
          <a:solidFill>
            <a:srgbClr val="4967E9"/>
          </a:solidFill>
          <a:ln/>
        </p:spPr>
      </p:sp>
      <p:sp>
        <p:nvSpPr>
          <p:cNvPr id="17" name="Text 15"/>
          <p:cNvSpPr/>
          <p:nvPr/>
        </p:nvSpPr>
        <p:spPr>
          <a:xfrm>
            <a:off x="793790" y="552021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Extender o devolver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793790" y="6010632"/>
            <a:ext cx="6407944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Solicita prórroga o coordina devolución en plazo.</a:t>
            </a:r>
            <a:endParaRPr lang="en-US" sz="1750" dirty="0"/>
          </a:p>
        </p:txBody>
      </p:sp>
      <p:sp>
        <p:nvSpPr>
          <p:cNvPr id="19" name="Text 17"/>
          <p:cNvSpPr/>
          <p:nvPr/>
        </p:nvSpPr>
        <p:spPr>
          <a:xfrm>
            <a:off x="7428548" y="4990862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04155"/>
                </a:solidFill>
                <a:latin typeface="Corben Light" pitchFamily="34" charset="0"/>
                <a:ea typeface="Corben Light" pitchFamily="34" charset="-122"/>
                <a:cs typeface="Corben Light" pitchFamily="34" charset="-120"/>
              </a:rPr>
              <a:t>05</a:t>
            </a:r>
            <a:endParaRPr lang="en-US" sz="1750" dirty="0"/>
          </a:p>
        </p:txBody>
      </p:sp>
      <p:sp>
        <p:nvSpPr>
          <p:cNvPr id="20" name="Shape 18"/>
          <p:cNvSpPr/>
          <p:nvPr/>
        </p:nvSpPr>
        <p:spPr>
          <a:xfrm>
            <a:off x="7428548" y="5345906"/>
            <a:ext cx="6407944" cy="30480"/>
          </a:xfrm>
          <a:prstGeom prst="rect">
            <a:avLst/>
          </a:prstGeom>
          <a:solidFill>
            <a:srgbClr val="4967E9"/>
          </a:solidFill>
          <a:ln/>
        </p:spPr>
      </p:sp>
      <p:sp>
        <p:nvSpPr>
          <p:cNvPr id="21" name="Text 19"/>
          <p:cNvSpPr/>
          <p:nvPr/>
        </p:nvSpPr>
        <p:spPr>
          <a:xfrm>
            <a:off x="7428548" y="552021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Calificar y resolver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7428548" y="6010632"/>
            <a:ext cx="6407944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Deja reseña, Si hay retraso o daño, se aplica penalidad.</a:t>
            </a:r>
            <a:endParaRPr lang="en-US" sz="1750" dirty="0"/>
          </a:p>
        </p:txBody>
      </p:sp>
      <p:sp>
        <p:nvSpPr>
          <p:cNvPr id="23" name="Rectángulo 22">
            <a:extLst>
              <a:ext uri="{FF2B5EF4-FFF2-40B4-BE49-F238E27FC236}">
                <a16:creationId xmlns:a16="http://schemas.microsoft.com/office/drawing/2014/main" id="{87A766CB-19AE-F4D1-42CB-BAFE1B6853FD}"/>
              </a:ext>
            </a:extLst>
          </p:cNvPr>
          <p:cNvSpPr/>
          <p:nvPr/>
        </p:nvSpPr>
        <p:spPr>
          <a:xfrm>
            <a:off x="12840929" y="7752279"/>
            <a:ext cx="1720645" cy="408495"/>
          </a:xfrm>
          <a:prstGeom prst="rect">
            <a:avLst/>
          </a:prstGeom>
          <a:solidFill>
            <a:srgbClr val="F9F9FF"/>
          </a:solidFill>
          <a:ln>
            <a:solidFill>
              <a:srgbClr val="F9F9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141690"/>
            <a:ext cx="10173772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1B1B27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Journey del Vendedor de Insumos: José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304098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04155"/>
                </a:solidFill>
                <a:latin typeface="Corben Light" pitchFamily="34" charset="0"/>
                <a:ea typeface="Corben Light" pitchFamily="34" charset="-122"/>
                <a:cs typeface="Corben Light" pitchFamily="34" charset="-120"/>
              </a:rPr>
              <a:t>01</a:t>
            </a:r>
            <a:endParaRPr lang="en-US" sz="1750" dirty="0"/>
          </a:p>
        </p:txBody>
      </p:sp>
      <p:sp>
        <p:nvSpPr>
          <p:cNvPr id="4" name="Shape 2"/>
          <p:cNvSpPr/>
          <p:nvPr/>
        </p:nvSpPr>
        <p:spPr>
          <a:xfrm>
            <a:off x="793790" y="2659142"/>
            <a:ext cx="4196358" cy="30480"/>
          </a:xfrm>
          <a:prstGeom prst="rect">
            <a:avLst/>
          </a:prstGeom>
          <a:solidFill>
            <a:srgbClr val="4967E9"/>
          </a:solidFill>
          <a:ln/>
        </p:spPr>
      </p:sp>
      <p:sp>
        <p:nvSpPr>
          <p:cNvPr id="5" name="Text 3"/>
          <p:cNvSpPr/>
          <p:nvPr/>
        </p:nvSpPr>
        <p:spPr>
          <a:xfrm>
            <a:off x="793790" y="2833449"/>
            <a:ext cx="3315653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Registro y Configuración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93790" y="3323868"/>
            <a:ext cx="4196358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José se registra en la plataforma y configura su perfil de vendedor, indicando su inventario y precios para los insumos.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5216962" y="2304098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04155"/>
                </a:solidFill>
                <a:latin typeface="Corben Light" pitchFamily="34" charset="0"/>
                <a:ea typeface="Corben Light" pitchFamily="34" charset="-122"/>
                <a:cs typeface="Corben Light" pitchFamily="34" charset="-120"/>
              </a:rPr>
              <a:t>02</a:t>
            </a:r>
            <a:endParaRPr lang="en-US" sz="1750" dirty="0"/>
          </a:p>
        </p:txBody>
      </p:sp>
      <p:sp>
        <p:nvSpPr>
          <p:cNvPr id="8" name="Shape 6"/>
          <p:cNvSpPr/>
          <p:nvPr/>
        </p:nvSpPr>
        <p:spPr>
          <a:xfrm>
            <a:off x="5216962" y="2659142"/>
            <a:ext cx="4196358" cy="30480"/>
          </a:xfrm>
          <a:prstGeom prst="rect">
            <a:avLst/>
          </a:prstGeom>
          <a:solidFill>
            <a:srgbClr val="4967E9"/>
          </a:solidFill>
          <a:ln/>
        </p:spPr>
      </p:sp>
      <p:sp>
        <p:nvSpPr>
          <p:cNvPr id="9" name="Text 7"/>
          <p:cNvSpPr/>
          <p:nvPr/>
        </p:nvSpPr>
        <p:spPr>
          <a:xfrm>
            <a:off x="5216962" y="2833449"/>
            <a:ext cx="3396853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Vinculación de Productos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5216962" y="3323868"/>
            <a:ext cx="4196358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Asocia sus insumos a herramientas específicas listadas en la plataforma, ofreciendo paquetes o descuentos.</a:t>
            </a:r>
            <a:endParaRPr lang="en-US" sz="1750" dirty="0"/>
          </a:p>
        </p:txBody>
      </p:sp>
      <p:sp>
        <p:nvSpPr>
          <p:cNvPr id="11" name="Text 9"/>
          <p:cNvSpPr/>
          <p:nvPr/>
        </p:nvSpPr>
        <p:spPr>
          <a:xfrm>
            <a:off x="9640133" y="2304098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04155"/>
                </a:solidFill>
                <a:latin typeface="Corben Light" pitchFamily="34" charset="0"/>
                <a:ea typeface="Corben Light" pitchFamily="34" charset="-122"/>
                <a:cs typeface="Corben Light" pitchFamily="34" charset="-120"/>
              </a:rPr>
              <a:t>03</a:t>
            </a:r>
            <a:endParaRPr lang="en-US" sz="1750" dirty="0"/>
          </a:p>
        </p:txBody>
      </p:sp>
      <p:sp>
        <p:nvSpPr>
          <p:cNvPr id="12" name="Shape 10"/>
          <p:cNvSpPr/>
          <p:nvPr/>
        </p:nvSpPr>
        <p:spPr>
          <a:xfrm>
            <a:off x="9640133" y="2659142"/>
            <a:ext cx="4196358" cy="30480"/>
          </a:xfrm>
          <a:prstGeom prst="rect">
            <a:avLst/>
          </a:prstGeom>
          <a:solidFill>
            <a:srgbClr val="4967E9"/>
          </a:solidFill>
          <a:ln/>
        </p:spPr>
      </p:sp>
      <p:sp>
        <p:nvSpPr>
          <p:cNvPr id="13" name="Text 11"/>
          <p:cNvSpPr/>
          <p:nvPr/>
        </p:nvSpPr>
        <p:spPr>
          <a:xfrm>
            <a:off x="9640133" y="283344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Gestión de Pedidos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9640133" y="3323868"/>
            <a:ext cx="419635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Recibe pedido y coordina entrega</a:t>
            </a:r>
            <a:endParaRPr lang="en-US" sz="1750" dirty="0"/>
          </a:p>
        </p:txBody>
      </p:sp>
      <p:sp>
        <p:nvSpPr>
          <p:cNvPr id="15" name="Text 13"/>
          <p:cNvSpPr/>
          <p:nvPr/>
        </p:nvSpPr>
        <p:spPr>
          <a:xfrm>
            <a:off x="793790" y="5172313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04155"/>
                </a:solidFill>
                <a:latin typeface="Corben Light" pitchFamily="34" charset="0"/>
                <a:ea typeface="Corben Light" pitchFamily="34" charset="-122"/>
                <a:cs typeface="Corben Light" pitchFamily="34" charset="-120"/>
              </a:rPr>
              <a:t>04</a:t>
            </a:r>
            <a:endParaRPr lang="en-US" sz="1750" dirty="0"/>
          </a:p>
        </p:txBody>
      </p:sp>
      <p:sp>
        <p:nvSpPr>
          <p:cNvPr id="16" name="Shape 14"/>
          <p:cNvSpPr/>
          <p:nvPr/>
        </p:nvSpPr>
        <p:spPr>
          <a:xfrm>
            <a:off x="793790" y="5527357"/>
            <a:ext cx="6407944" cy="30480"/>
          </a:xfrm>
          <a:prstGeom prst="rect">
            <a:avLst/>
          </a:prstGeom>
          <a:solidFill>
            <a:srgbClr val="4967E9"/>
          </a:solidFill>
          <a:ln/>
        </p:spPr>
      </p:sp>
      <p:sp>
        <p:nvSpPr>
          <p:cNvPr id="17" name="Text 15"/>
          <p:cNvSpPr/>
          <p:nvPr/>
        </p:nvSpPr>
        <p:spPr>
          <a:xfrm>
            <a:off x="793790" y="570166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Entrega y Cobro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793790" y="6192083"/>
            <a:ext cx="6407944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Recibe pago, gestiona devoluciones de insumos (si procede).</a:t>
            </a:r>
            <a:endParaRPr lang="en-US" sz="1750" dirty="0"/>
          </a:p>
        </p:txBody>
      </p:sp>
      <p:sp>
        <p:nvSpPr>
          <p:cNvPr id="19" name="Text 17"/>
          <p:cNvSpPr/>
          <p:nvPr/>
        </p:nvSpPr>
        <p:spPr>
          <a:xfrm>
            <a:off x="7428548" y="5172313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04155"/>
                </a:solidFill>
                <a:latin typeface="Corben Light" pitchFamily="34" charset="0"/>
                <a:ea typeface="Corben Light" pitchFamily="34" charset="-122"/>
                <a:cs typeface="Corben Light" pitchFamily="34" charset="-120"/>
              </a:rPr>
              <a:t>05</a:t>
            </a:r>
            <a:endParaRPr lang="en-US" sz="1750" dirty="0"/>
          </a:p>
        </p:txBody>
      </p:sp>
      <p:sp>
        <p:nvSpPr>
          <p:cNvPr id="20" name="Shape 18"/>
          <p:cNvSpPr/>
          <p:nvPr/>
        </p:nvSpPr>
        <p:spPr>
          <a:xfrm>
            <a:off x="7428548" y="5527357"/>
            <a:ext cx="6407944" cy="30480"/>
          </a:xfrm>
          <a:prstGeom prst="rect">
            <a:avLst/>
          </a:prstGeom>
          <a:solidFill>
            <a:srgbClr val="4967E9"/>
          </a:solidFill>
          <a:ln/>
        </p:spPr>
      </p:sp>
      <p:sp>
        <p:nvSpPr>
          <p:cNvPr id="21" name="Text 19"/>
          <p:cNvSpPr/>
          <p:nvPr/>
        </p:nvSpPr>
        <p:spPr>
          <a:xfrm>
            <a:off x="7428548" y="570166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Calificación 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7428548" y="6192083"/>
            <a:ext cx="6407944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Recibe calificaciones por la calidad de sus productos</a:t>
            </a:r>
            <a:endParaRPr lang="en-US" sz="1750" dirty="0"/>
          </a:p>
        </p:txBody>
      </p:sp>
      <p:sp>
        <p:nvSpPr>
          <p:cNvPr id="23" name="Rectángulo 22">
            <a:extLst>
              <a:ext uri="{FF2B5EF4-FFF2-40B4-BE49-F238E27FC236}">
                <a16:creationId xmlns:a16="http://schemas.microsoft.com/office/drawing/2014/main" id="{44D218A0-DB9D-CF41-F2BA-0915BA21F6FA}"/>
              </a:ext>
            </a:extLst>
          </p:cNvPr>
          <p:cNvSpPr/>
          <p:nvPr/>
        </p:nvSpPr>
        <p:spPr>
          <a:xfrm>
            <a:off x="12840929" y="7752279"/>
            <a:ext cx="1720645" cy="408495"/>
          </a:xfrm>
          <a:prstGeom prst="rect">
            <a:avLst/>
          </a:prstGeom>
          <a:solidFill>
            <a:srgbClr val="F9F9FF"/>
          </a:solidFill>
          <a:ln>
            <a:solidFill>
              <a:srgbClr val="F9F9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778788"/>
            <a:ext cx="7586901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1B1B27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Journey del Operario: Miguel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1941195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04155"/>
                </a:solidFill>
                <a:latin typeface="Corben Light" pitchFamily="34" charset="0"/>
                <a:ea typeface="Corben Light" pitchFamily="34" charset="-122"/>
                <a:cs typeface="Corben Light" pitchFamily="34" charset="-120"/>
              </a:rPr>
              <a:t>01</a:t>
            </a:r>
            <a:endParaRPr lang="en-US" sz="1750" dirty="0"/>
          </a:p>
        </p:txBody>
      </p:sp>
      <p:sp>
        <p:nvSpPr>
          <p:cNvPr id="4" name="Shape 2"/>
          <p:cNvSpPr/>
          <p:nvPr/>
        </p:nvSpPr>
        <p:spPr>
          <a:xfrm>
            <a:off x="793790" y="2296239"/>
            <a:ext cx="4196358" cy="30480"/>
          </a:xfrm>
          <a:prstGeom prst="rect">
            <a:avLst/>
          </a:prstGeom>
          <a:solidFill>
            <a:srgbClr val="4967E9"/>
          </a:solidFill>
          <a:ln/>
        </p:spPr>
      </p:sp>
      <p:sp>
        <p:nvSpPr>
          <p:cNvPr id="5" name="Text 3"/>
          <p:cNvSpPr/>
          <p:nvPr/>
        </p:nvSpPr>
        <p:spPr>
          <a:xfrm>
            <a:off x="793790" y="247054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Registro y Portafolio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93790" y="2960965"/>
            <a:ext cx="4196358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Miguel descarga la app, crea su perfil de operario, y detalla su experiencia, las herramientas que maneja y sus tarifas por hora o por trabajo.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5216962" y="1941195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04155"/>
                </a:solidFill>
                <a:latin typeface="Corben Light" pitchFamily="34" charset="0"/>
                <a:ea typeface="Corben Light" pitchFamily="34" charset="-122"/>
                <a:cs typeface="Corben Light" pitchFamily="34" charset="-120"/>
              </a:rPr>
              <a:t>02</a:t>
            </a:r>
            <a:endParaRPr lang="en-US" sz="1750" dirty="0"/>
          </a:p>
        </p:txBody>
      </p:sp>
      <p:sp>
        <p:nvSpPr>
          <p:cNvPr id="8" name="Shape 6"/>
          <p:cNvSpPr/>
          <p:nvPr/>
        </p:nvSpPr>
        <p:spPr>
          <a:xfrm>
            <a:off x="5216962" y="2296239"/>
            <a:ext cx="4196358" cy="30480"/>
          </a:xfrm>
          <a:prstGeom prst="rect">
            <a:avLst/>
          </a:prstGeom>
          <a:solidFill>
            <a:srgbClr val="4967E9"/>
          </a:solidFill>
          <a:ln/>
        </p:spPr>
      </p:sp>
      <p:sp>
        <p:nvSpPr>
          <p:cNvPr id="9" name="Text 7"/>
          <p:cNvSpPr/>
          <p:nvPr/>
        </p:nvSpPr>
        <p:spPr>
          <a:xfrm>
            <a:off x="5216962" y="247054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Oferta Combinada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5216962" y="2960965"/>
            <a:ext cx="4196358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Publica sus servicios vinculados a herramientas específicas que posee, mostrando las tarifas asociadas por hora o por proyecto. Destaca su experiencia y especialidad.</a:t>
            </a:r>
            <a:endParaRPr lang="en-US" sz="1750" dirty="0"/>
          </a:p>
        </p:txBody>
      </p:sp>
      <p:sp>
        <p:nvSpPr>
          <p:cNvPr id="11" name="Text 9"/>
          <p:cNvSpPr/>
          <p:nvPr/>
        </p:nvSpPr>
        <p:spPr>
          <a:xfrm>
            <a:off x="9640133" y="1941195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04155"/>
                </a:solidFill>
                <a:latin typeface="Corben Light" pitchFamily="34" charset="0"/>
                <a:ea typeface="Corben Light" pitchFamily="34" charset="-122"/>
                <a:cs typeface="Corben Light" pitchFamily="34" charset="-120"/>
              </a:rPr>
              <a:t>03</a:t>
            </a:r>
            <a:endParaRPr lang="en-US" sz="1750" dirty="0"/>
          </a:p>
        </p:txBody>
      </p:sp>
      <p:sp>
        <p:nvSpPr>
          <p:cNvPr id="12" name="Shape 10"/>
          <p:cNvSpPr/>
          <p:nvPr/>
        </p:nvSpPr>
        <p:spPr>
          <a:xfrm>
            <a:off x="9640133" y="2296239"/>
            <a:ext cx="4196358" cy="30480"/>
          </a:xfrm>
          <a:prstGeom prst="rect">
            <a:avLst/>
          </a:prstGeom>
          <a:solidFill>
            <a:srgbClr val="4967E9"/>
          </a:solidFill>
          <a:ln/>
        </p:spPr>
      </p:sp>
      <p:sp>
        <p:nvSpPr>
          <p:cNvPr id="13" name="Text 11"/>
          <p:cNvSpPr/>
          <p:nvPr/>
        </p:nvSpPr>
        <p:spPr>
          <a:xfrm>
            <a:off x="9640133" y="2470547"/>
            <a:ext cx="3829407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Contratación y Coordinación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9640133" y="2960965"/>
            <a:ext cx="4196358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Recibe solicitudes de clientes para trabajos que requieren sus habilidades. Revisa los detalles del trabajo, coordina la logística (horarios, lugar) con el cliente y acepta la solicitud.</a:t>
            </a:r>
            <a:endParaRPr lang="en-US" sz="1750" dirty="0"/>
          </a:p>
        </p:txBody>
      </p:sp>
      <p:sp>
        <p:nvSpPr>
          <p:cNvPr id="15" name="Text 13"/>
          <p:cNvSpPr/>
          <p:nvPr/>
        </p:nvSpPr>
        <p:spPr>
          <a:xfrm>
            <a:off x="793790" y="5172313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04155"/>
                </a:solidFill>
                <a:latin typeface="Corben Light" pitchFamily="34" charset="0"/>
                <a:ea typeface="Corben Light" pitchFamily="34" charset="-122"/>
                <a:cs typeface="Corben Light" pitchFamily="34" charset="-120"/>
              </a:rPr>
              <a:t>04</a:t>
            </a:r>
            <a:endParaRPr lang="en-US" sz="1750" dirty="0"/>
          </a:p>
        </p:txBody>
      </p:sp>
      <p:sp>
        <p:nvSpPr>
          <p:cNvPr id="16" name="Shape 14"/>
          <p:cNvSpPr/>
          <p:nvPr/>
        </p:nvSpPr>
        <p:spPr>
          <a:xfrm>
            <a:off x="793790" y="5527357"/>
            <a:ext cx="6407944" cy="30480"/>
          </a:xfrm>
          <a:prstGeom prst="rect">
            <a:avLst/>
          </a:prstGeom>
          <a:solidFill>
            <a:srgbClr val="4967E9"/>
          </a:solidFill>
          <a:ln/>
        </p:spPr>
      </p:sp>
      <p:sp>
        <p:nvSpPr>
          <p:cNvPr id="17" name="Text 15"/>
          <p:cNvSpPr/>
          <p:nvPr/>
        </p:nvSpPr>
        <p:spPr>
          <a:xfrm>
            <a:off x="793790" y="5701665"/>
            <a:ext cx="2881789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Ejecución del Servicio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793790" y="6192083"/>
            <a:ext cx="6407944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Miguel se presenta en el lugar acordado, utiliza su herramienta y experiencia para realizar el trabajo, asegurando la calidad y eficiencia esperada por el cliente.</a:t>
            </a:r>
            <a:endParaRPr lang="en-US" sz="1750" dirty="0"/>
          </a:p>
        </p:txBody>
      </p:sp>
      <p:sp>
        <p:nvSpPr>
          <p:cNvPr id="19" name="Text 17"/>
          <p:cNvSpPr/>
          <p:nvPr/>
        </p:nvSpPr>
        <p:spPr>
          <a:xfrm>
            <a:off x="7428548" y="5172313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04155"/>
                </a:solidFill>
                <a:latin typeface="Corben Light" pitchFamily="34" charset="0"/>
                <a:ea typeface="Corben Light" pitchFamily="34" charset="-122"/>
                <a:cs typeface="Corben Light" pitchFamily="34" charset="-120"/>
              </a:rPr>
              <a:t>05</a:t>
            </a:r>
            <a:endParaRPr lang="en-US" sz="1750" dirty="0"/>
          </a:p>
        </p:txBody>
      </p:sp>
      <p:sp>
        <p:nvSpPr>
          <p:cNvPr id="20" name="Shape 18"/>
          <p:cNvSpPr/>
          <p:nvPr/>
        </p:nvSpPr>
        <p:spPr>
          <a:xfrm>
            <a:off x="7428548" y="5527357"/>
            <a:ext cx="6407944" cy="30480"/>
          </a:xfrm>
          <a:prstGeom prst="rect">
            <a:avLst/>
          </a:prstGeom>
          <a:solidFill>
            <a:srgbClr val="4967E9"/>
          </a:solidFill>
          <a:ln/>
        </p:spPr>
      </p:sp>
      <p:sp>
        <p:nvSpPr>
          <p:cNvPr id="21" name="Text 19"/>
          <p:cNvSpPr/>
          <p:nvPr/>
        </p:nvSpPr>
        <p:spPr>
          <a:xfrm>
            <a:off x="7428548" y="570166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Calificación y Pago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7428548" y="6192083"/>
            <a:ext cx="6407944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Una vez finalizado el trabajo, el cliente califica su servicio y Miguel recibe el pago acordado a través de la plataforma, completando el ciclo de servicio.</a:t>
            </a:r>
            <a:endParaRPr lang="en-US" sz="1750" dirty="0"/>
          </a:p>
        </p:txBody>
      </p:sp>
      <p:sp>
        <p:nvSpPr>
          <p:cNvPr id="23" name="Rectángulo 22">
            <a:extLst>
              <a:ext uri="{FF2B5EF4-FFF2-40B4-BE49-F238E27FC236}">
                <a16:creationId xmlns:a16="http://schemas.microsoft.com/office/drawing/2014/main" id="{4C0797F0-C216-5D83-F4F7-BF4102E7BD4F}"/>
              </a:ext>
            </a:extLst>
          </p:cNvPr>
          <p:cNvSpPr/>
          <p:nvPr/>
        </p:nvSpPr>
        <p:spPr>
          <a:xfrm>
            <a:off x="12840929" y="7752279"/>
            <a:ext cx="1720645" cy="408495"/>
          </a:xfrm>
          <a:prstGeom prst="rect">
            <a:avLst/>
          </a:prstGeom>
          <a:solidFill>
            <a:srgbClr val="F9F9FF"/>
          </a:solidFill>
          <a:ln>
            <a:solidFill>
              <a:srgbClr val="F9F9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0218" y="622221"/>
            <a:ext cx="13049964" cy="14111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00" dirty="0">
                <a:solidFill>
                  <a:srgbClr val="1B1B27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Journey del Administrador: Equipo de la plataforma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790218" y="2484834"/>
            <a:ext cx="225743" cy="2821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750" dirty="0">
                <a:solidFill>
                  <a:srgbClr val="404155"/>
                </a:solidFill>
                <a:latin typeface="Corben Light" pitchFamily="34" charset="0"/>
                <a:ea typeface="Corben Light" pitchFamily="34" charset="-122"/>
                <a:cs typeface="Corben Light" pitchFamily="34" charset="-120"/>
              </a:rPr>
              <a:t>01</a:t>
            </a:r>
            <a:endParaRPr lang="en-US" sz="1750" dirty="0"/>
          </a:p>
        </p:txBody>
      </p:sp>
      <p:sp>
        <p:nvSpPr>
          <p:cNvPr id="4" name="Shape 2"/>
          <p:cNvSpPr/>
          <p:nvPr/>
        </p:nvSpPr>
        <p:spPr>
          <a:xfrm>
            <a:off x="790218" y="2838093"/>
            <a:ext cx="4199453" cy="30480"/>
          </a:xfrm>
          <a:prstGeom prst="rect">
            <a:avLst/>
          </a:prstGeom>
          <a:solidFill>
            <a:srgbClr val="4967E9"/>
          </a:solidFill>
          <a:ln/>
        </p:spPr>
      </p:sp>
      <p:sp>
        <p:nvSpPr>
          <p:cNvPr id="5" name="Text 3"/>
          <p:cNvSpPr/>
          <p:nvPr/>
        </p:nvSpPr>
        <p:spPr>
          <a:xfrm>
            <a:off x="790218" y="3011924"/>
            <a:ext cx="3443764" cy="3526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Onboarding Legal y Fiscal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90218" y="3499961"/>
            <a:ext cx="4199453" cy="108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7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Establecer el marco legal, términos de servicio y políticas de privacidad; configurar el procesamiento de pagos.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5215414" y="2484834"/>
            <a:ext cx="225743" cy="2821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750" dirty="0">
                <a:solidFill>
                  <a:srgbClr val="404155"/>
                </a:solidFill>
                <a:latin typeface="Corben Light" pitchFamily="34" charset="0"/>
                <a:ea typeface="Corben Light" pitchFamily="34" charset="-122"/>
                <a:cs typeface="Corben Light" pitchFamily="34" charset="-120"/>
              </a:rPr>
              <a:t>02</a:t>
            </a:r>
            <a:endParaRPr lang="en-US" sz="1750" dirty="0"/>
          </a:p>
        </p:txBody>
      </p:sp>
      <p:sp>
        <p:nvSpPr>
          <p:cNvPr id="8" name="Shape 6"/>
          <p:cNvSpPr/>
          <p:nvPr/>
        </p:nvSpPr>
        <p:spPr>
          <a:xfrm>
            <a:off x="5215414" y="2838093"/>
            <a:ext cx="4199453" cy="30480"/>
          </a:xfrm>
          <a:prstGeom prst="rect">
            <a:avLst/>
          </a:prstGeom>
          <a:solidFill>
            <a:srgbClr val="4967E9"/>
          </a:solidFill>
          <a:ln/>
        </p:spPr>
      </p:sp>
      <p:sp>
        <p:nvSpPr>
          <p:cNvPr id="9" name="Text 7"/>
          <p:cNvSpPr/>
          <p:nvPr/>
        </p:nvSpPr>
        <p:spPr>
          <a:xfrm>
            <a:off x="5215414" y="3011924"/>
            <a:ext cx="3466743" cy="3526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Moderación y Verificación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5215414" y="3499961"/>
            <a:ext cx="4199453" cy="14444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7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Revisar y aprobar perfiles de usuarios y listados de herramientas; monitorear transacciones y actividades sospechosas para prevenir fraudes.</a:t>
            </a:r>
            <a:endParaRPr lang="en-US" sz="1750" dirty="0"/>
          </a:p>
        </p:txBody>
      </p:sp>
      <p:sp>
        <p:nvSpPr>
          <p:cNvPr id="11" name="Text 9"/>
          <p:cNvSpPr/>
          <p:nvPr/>
        </p:nvSpPr>
        <p:spPr>
          <a:xfrm>
            <a:off x="9640610" y="2484834"/>
            <a:ext cx="225743" cy="2821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750" dirty="0">
                <a:solidFill>
                  <a:srgbClr val="404155"/>
                </a:solidFill>
                <a:latin typeface="Corben Light" pitchFamily="34" charset="0"/>
                <a:ea typeface="Corben Light" pitchFamily="34" charset="-122"/>
                <a:cs typeface="Corben Light" pitchFamily="34" charset="-120"/>
              </a:rPr>
              <a:t>03</a:t>
            </a:r>
            <a:endParaRPr lang="en-US" sz="1750" dirty="0"/>
          </a:p>
        </p:txBody>
      </p:sp>
      <p:sp>
        <p:nvSpPr>
          <p:cNvPr id="12" name="Shape 10"/>
          <p:cNvSpPr/>
          <p:nvPr/>
        </p:nvSpPr>
        <p:spPr>
          <a:xfrm>
            <a:off x="9640610" y="2838093"/>
            <a:ext cx="4199573" cy="30480"/>
          </a:xfrm>
          <a:prstGeom prst="rect">
            <a:avLst/>
          </a:prstGeom>
          <a:solidFill>
            <a:srgbClr val="4967E9"/>
          </a:solidFill>
          <a:ln/>
        </p:spPr>
      </p:sp>
      <p:sp>
        <p:nvSpPr>
          <p:cNvPr id="13" name="Text 11"/>
          <p:cNvSpPr/>
          <p:nvPr/>
        </p:nvSpPr>
        <p:spPr>
          <a:xfrm>
            <a:off x="9640610" y="3011924"/>
            <a:ext cx="3698319" cy="3526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Gestión de Disputas y Pagos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9640610" y="3499961"/>
            <a:ext cx="4199573" cy="18055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7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Resolver conflictos entre propietarios y arrendatarios; gestionar devoluciones, reclamaciones y asegurar el flujo de pagos entre las partes, si se requiere.</a:t>
            </a:r>
            <a:endParaRPr lang="en-US" sz="1750" dirty="0"/>
          </a:p>
        </p:txBody>
      </p:sp>
      <p:sp>
        <p:nvSpPr>
          <p:cNvPr id="15" name="Text 13"/>
          <p:cNvSpPr/>
          <p:nvPr/>
        </p:nvSpPr>
        <p:spPr>
          <a:xfrm>
            <a:off x="790218" y="5700593"/>
            <a:ext cx="225743" cy="2821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750" dirty="0">
                <a:solidFill>
                  <a:srgbClr val="404155"/>
                </a:solidFill>
                <a:latin typeface="Corben Light" pitchFamily="34" charset="0"/>
                <a:ea typeface="Corben Light" pitchFamily="34" charset="-122"/>
                <a:cs typeface="Corben Light" pitchFamily="34" charset="-120"/>
              </a:rPr>
              <a:t>04</a:t>
            </a:r>
            <a:endParaRPr lang="en-US" sz="1750" dirty="0"/>
          </a:p>
        </p:txBody>
      </p:sp>
      <p:sp>
        <p:nvSpPr>
          <p:cNvPr id="16" name="Shape 14"/>
          <p:cNvSpPr/>
          <p:nvPr/>
        </p:nvSpPr>
        <p:spPr>
          <a:xfrm>
            <a:off x="790218" y="6053852"/>
            <a:ext cx="13049964" cy="30480"/>
          </a:xfrm>
          <a:prstGeom prst="rect">
            <a:avLst/>
          </a:prstGeom>
          <a:solidFill>
            <a:srgbClr val="4967E9"/>
          </a:solidFill>
          <a:ln/>
        </p:spPr>
      </p:sp>
      <p:sp>
        <p:nvSpPr>
          <p:cNvPr id="17" name="Text 15"/>
          <p:cNvSpPr/>
          <p:nvPr/>
        </p:nvSpPr>
        <p:spPr>
          <a:xfrm>
            <a:off x="790218" y="6227683"/>
            <a:ext cx="2822258" cy="3526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Reportes y Métricas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790218" y="6715720"/>
            <a:ext cx="13049964" cy="7222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7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Generar informes sobre el rendimiento de la plataforma, actividad de usuarios y datos financieros para optimizar operaciones y crecimiento.</a:t>
            </a:r>
            <a:endParaRPr lang="en-US" sz="1750" dirty="0"/>
          </a:p>
        </p:txBody>
      </p:sp>
      <p:sp>
        <p:nvSpPr>
          <p:cNvPr id="19" name="Rectángulo 18">
            <a:extLst>
              <a:ext uri="{FF2B5EF4-FFF2-40B4-BE49-F238E27FC236}">
                <a16:creationId xmlns:a16="http://schemas.microsoft.com/office/drawing/2014/main" id="{72CEEBE7-B8A9-9626-4973-AA9B4C6F0F78}"/>
              </a:ext>
            </a:extLst>
          </p:cNvPr>
          <p:cNvSpPr/>
          <p:nvPr/>
        </p:nvSpPr>
        <p:spPr>
          <a:xfrm>
            <a:off x="12840929" y="7752279"/>
            <a:ext cx="1720645" cy="408495"/>
          </a:xfrm>
          <a:prstGeom prst="rect">
            <a:avLst/>
          </a:prstGeom>
          <a:solidFill>
            <a:srgbClr val="F9F9FF"/>
          </a:solidFill>
          <a:ln>
            <a:solidFill>
              <a:srgbClr val="F9F9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3796" y="103942"/>
            <a:ext cx="9208651" cy="5200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050"/>
              </a:lnSpc>
              <a:buNone/>
            </a:pPr>
            <a:r>
              <a:rPr lang="en-US" sz="3250" dirty="0">
                <a:solidFill>
                  <a:srgbClr val="1B1B27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Historias uso, escenarios y criterios aceptación: </a:t>
            </a:r>
            <a:endParaRPr lang="en-US" sz="3250" dirty="0"/>
          </a:p>
        </p:txBody>
      </p:sp>
      <p:sp>
        <p:nvSpPr>
          <p:cNvPr id="4" name="Text 1"/>
          <p:cNvSpPr/>
          <p:nvPr/>
        </p:nvSpPr>
        <p:spPr>
          <a:xfrm>
            <a:off x="582454" y="8822412"/>
            <a:ext cx="13465493" cy="2662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endParaRPr lang="en-US" sz="1300" dirty="0"/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2FAD94E1-0B34-55C3-9ADA-590616687FFD}"/>
              </a:ext>
            </a:extLst>
          </p:cNvPr>
          <p:cNvSpPr/>
          <p:nvPr/>
        </p:nvSpPr>
        <p:spPr>
          <a:xfrm>
            <a:off x="12840929" y="7752279"/>
            <a:ext cx="1720645" cy="408495"/>
          </a:xfrm>
          <a:prstGeom prst="rect">
            <a:avLst/>
          </a:prstGeom>
          <a:solidFill>
            <a:srgbClr val="F9F9FF"/>
          </a:solidFill>
          <a:ln>
            <a:solidFill>
              <a:srgbClr val="F9F9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4923B6A1-6DDA-B250-3206-A8AF448237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9243" y="661505"/>
            <a:ext cx="12631913" cy="6906589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34383" y="3642364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1B1B27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Código</a:t>
            </a:r>
            <a:endParaRPr lang="en-US" sz="4450" dirty="0"/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C475A5FB-65B7-73A8-EE4F-6120690BE89D}"/>
              </a:ext>
            </a:extLst>
          </p:cNvPr>
          <p:cNvSpPr/>
          <p:nvPr/>
        </p:nvSpPr>
        <p:spPr>
          <a:xfrm>
            <a:off x="12840929" y="7752279"/>
            <a:ext cx="1720645" cy="408495"/>
          </a:xfrm>
          <a:prstGeom prst="rect">
            <a:avLst/>
          </a:prstGeom>
          <a:solidFill>
            <a:srgbClr val="F9F9FF"/>
          </a:solidFill>
          <a:ln>
            <a:solidFill>
              <a:srgbClr val="F9F9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1145</Words>
  <Application>Microsoft Office PowerPoint</Application>
  <PresentationFormat>Personalizado</PresentationFormat>
  <Paragraphs>139</Paragraphs>
  <Slides>13</Slides>
  <Notes>13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13</vt:i4>
      </vt:variant>
    </vt:vector>
  </HeadingPairs>
  <TitlesOfParts>
    <vt:vector size="18" baseType="lpstr">
      <vt:lpstr>Nobile</vt:lpstr>
      <vt:lpstr>Arial</vt:lpstr>
      <vt:lpstr>Corben</vt:lpstr>
      <vt:lpstr>Corben Light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Arturo Hinostroza Olivera</cp:lastModifiedBy>
  <cp:revision>2</cp:revision>
  <dcterms:created xsi:type="dcterms:W3CDTF">2025-11-08T07:00:19Z</dcterms:created>
  <dcterms:modified xsi:type="dcterms:W3CDTF">2025-11-08T07:03:49Z</dcterms:modified>
</cp:coreProperties>
</file>